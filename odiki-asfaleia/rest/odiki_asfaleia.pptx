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4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389120"/>
            <a:ext cx="274320" cy="137160"/>
          </a:xfrm>
          <a:prstGeom prst="rect">
            <a:avLst/>
          </a:prstGeom>
          <a:solidFill>
            <a:srgbClr val="F5B400">
              <a:alpha val="40000"/>
            </a:srgbClr>
          </a:solidFill>
          <a:ln w="12700">
            <a:solidFill>
              <a:srgbClr val="F5B4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4389120"/>
            <a:ext cx="274320" cy="137160"/>
          </a:xfrm>
          <a:prstGeom prst="rect">
            <a:avLst/>
          </a:prstGeom>
          <a:solidFill>
            <a:srgbClr val="F5B400">
              <a:alpha val="40000"/>
            </a:srgbClr>
          </a:solidFill>
          <a:ln w="12700">
            <a:solidFill>
              <a:srgbClr val="F5B4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389120"/>
            <a:ext cx="274320" cy="137160"/>
          </a:xfrm>
          <a:prstGeom prst="rect">
            <a:avLst/>
          </a:prstGeom>
          <a:solidFill>
            <a:srgbClr val="F5B400">
              <a:alpha val="40000"/>
            </a:srgbClr>
          </a:solidFill>
          <a:ln w="12700">
            <a:solidFill>
              <a:srgbClr val="F5B40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389120"/>
            <a:ext cx="274320" cy="137160"/>
          </a:xfrm>
          <a:prstGeom prst="rect">
            <a:avLst/>
          </a:prstGeom>
          <a:solidFill>
            <a:srgbClr val="F5B400">
              <a:alpha val="40000"/>
            </a:srgbClr>
          </a:solidFill>
          <a:ln w="12700">
            <a:solidFill>
              <a:srgbClr val="F5B40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4389120"/>
            <a:ext cx="274320" cy="137160"/>
          </a:xfrm>
          <a:prstGeom prst="rect">
            <a:avLst/>
          </a:prstGeom>
          <a:solidFill>
            <a:srgbClr val="F5B400">
              <a:alpha val="40000"/>
            </a:srgbClr>
          </a:solidFill>
          <a:ln w="12700">
            <a:solidFill>
              <a:srgbClr val="F5B40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206240"/>
            <a:ext cx="8412480" cy="3657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97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🚦 ΟΔΙΚΗ ΑΣΦΑΛΕΙΑ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Βασικές Αρχές &amp; Σήματα Κυκλοφορίας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Για μαθητές Γυμνασίου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468880" cy="2926080"/>
          </a:xfrm>
          <a:prstGeom prst="rect">
            <a:avLst/>
          </a:prstGeom>
          <a:solidFill>
            <a:srgbClr val="333344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554480"/>
            <a:ext cx="109728" cy="5029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331720"/>
            <a:ext cx="109728" cy="5029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108960"/>
            <a:ext cx="109728" cy="5029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952"/>
          </a:solidFill>
          <a:ln w="12700">
            <a:solidFill>
              <a:srgbClr val="1A2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Γιατί είναι σημαντική η Οδική Ασφάλεια;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10972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C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1η αιτία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θανάτων νέων 15–29 ετών παγκοσμίως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560320" cy="109728"/>
          </a:xfrm>
          <a:prstGeom prst="rect">
            <a:avLst/>
          </a:prstGeom>
          <a:solidFill>
            <a:srgbClr val="C47B00"/>
          </a:solidFill>
          <a:ln w="12700">
            <a:solidFill>
              <a:srgbClr val="C4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47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1,35 εκ.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θάνατοι ετησίως από τροχαία ατυχήματα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2560320" cy="1097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6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των θυμάτων είναι πεζοί, ποδηλάτες &amp; δίκυκλοι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52"/>
          </a:solidFill>
          <a:ln w="12700">
            <a:solidFill>
              <a:srgbClr val="1A29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γνώση των κανόνων σώζει ζωές!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🚶 Κανόνες Ασφάλειας για Πεζούς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Χρησιμοποίησε πάντα τα πεζοδρόμια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957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Πέρασε μόνο σε διαβάσεις πεζών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93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Κοίτα πρώτα αριστερά, μετά δεξιά, μετά πάλι αριστερά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984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Βάλε φωτεινά ρούχα τη νύχτα ή ανακλαστικά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957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Μην κοιτάς το κινητό ενώ διασχίζεις το δρόμο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0F0"/>
          </a:solidFill>
          <a:ln w="19050">
            <a:solidFill>
              <a:srgbClr val="CC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493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ΜΗΝ παίζεις στο δρόμο ή σε χώρους στάθμευσης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47B00"/>
          </a:solidFill>
          <a:ln w="12700">
            <a:solidFill>
              <a:srgbClr val="C47B0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Προειδοποιητικά Σήματα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Είναι τριγωνικά, με κίτρινο φόντο και κόκκινο περίγραμμα. Μας προειδοποιούν για κίνδυνο.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52"/>
          </a:solidFill>
          <a:ln w="12700">
            <a:solidFill>
              <a:srgbClr val="1A2952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2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Τα προειδοποιητικά σήματα δεν απαγορεύουν — απλώς μας λένε να είμαστε προσεκτικοί!</a:t>
            </a:r>
            <a:endParaRPr lang="en-US" sz="1400" dirty="0"/>
          </a:p>
        </p:txBody>
      </p:sp>
      <p:sp>
        <p:nvSpPr>
          <p:cNvPr id="36" name="Ισοσκελές τρίγωνο 35">
            <a:extLst>
              <a:ext uri="{FF2B5EF4-FFF2-40B4-BE49-F238E27FC236}">
                <a16:creationId xmlns:a16="http://schemas.microsoft.com/office/drawing/2014/main" id="{C009E67C-CD3A-43FD-A63F-8ECBA16240E3}"/>
              </a:ext>
            </a:extLst>
          </p:cNvPr>
          <p:cNvSpPr/>
          <p:nvPr/>
        </p:nvSpPr>
        <p:spPr>
          <a:xfrm>
            <a:off x="3175000" y="1587500"/>
            <a:ext cx="2794000" cy="2540000"/>
          </a:xfrm>
          <a:prstGeom prst="triangle">
            <a:avLst/>
          </a:prstGeom>
          <a:solidFill>
            <a:srgbClr val="D32F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  <p:sp>
        <p:nvSpPr>
          <p:cNvPr id="37" name="Ισοσκελές τρίγωνο 36">
            <a:extLst>
              <a:ext uri="{FF2B5EF4-FFF2-40B4-BE49-F238E27FC236}">
                <a16:creationId xmlns:a16="http://schemas.microsoft.com/office/drawing/2014/main" id="{360C17A7-5FA8-463F-B1C2-B95E57CB4C1C}"/>
              </a:ext>
            </a:extLst>
          </p:cNvPr>
          <p:cNvSpPr/>
          <p:nvPr/>
        </p:nvSpPr>
        <p:spPr>
          <a:xfrm>
            <a:off x="3454400" y="1894839"/>
            <a:ext cx="2235200" cy="2092960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  <p:sp>
        <p:nvSpPr>
          <p:cNvPr id="38" name="Ορθογώνιο 37">
            <a:extLst>
              <a:ext uri="{FF2B5EF4-FFF2-40B4-BE49-F238E27FC236}">
                <a16:creationId xmlns:a16="http://schemas.microsoft.com/office/drawing/2014/main" id="{E72CBC07-F5AA-4A29-A739-BB2879D206AB}"/>
              </a:ext>
            </a:extLst>
          </p:cNvPr>
          <p:cNvSpPr/>
          <p:nvPr/>
        </p:nvSpPr>
        <p:spPr>
          <a:xfrm>
            <a:off x="4432300" y="2451100"/>
            <a:ext cx="279400" cy="8636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  <p:sp>
        <p:nvSpPr>
          <p:cNvPr id="39" name="Ορθογώνιο 38">
            <a:extLst>
              <a:ext uri="{FF2B5EF4-FFF2-40B4-BE49-F238E27FC236}">
                <a16:creationId xmlns:a16="http://schemas.microsoft.com/office/drawing/2014/main" id="{7423B67A-F204-4C77-8D5F-62372A7CFD8D}"/>
              </a:ext>
            </a:extLst>
          </p:cNvPr>
          <p:cNvSpPr/>
          <p:nvPr/>
        </p:nvSpPr>
        <p:spPr>
          <a:xfrm>
            <a:off x="4432300" y="3467100"/>
            <a:ext cx="279400" cy="2794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🛑 Ρυθμιστικά Σήματα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Κυκλικά ή οκταγωνικά. Επιβάλλουν υποχρεώσεις ή απαγορεύσεις — πρέπει να τα τηρούμε!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920240" cy="2743200"/>
          </a:xfrm>
          <a:prstGeom prst="rect">
            <a:avLst/>
          </a:prstGeom>
          <a:solidFill>
            <a:srgbClr val="F0F2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Υποχρεωτική στάση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23160" y="1600200"/>
            <a:ext cx="1920240" cy="2743200"/>
          </a:xfrm>
          <a:prstGeom prst="rect">
            <a:avLst/>
          </a:prstGeom>
          <a:solidFill>
            <a:srgbClr val="F0F2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73736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Απαγόρευση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εισόδου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0" y="1600200"/>
            <a:ext cx="1920240" cy="2743200"/>
          </a:xfrm>
          <a:prstGeom prst="rect">
            <a:avLst/>
          </a:prstGeom>
          <a:solidFill>
            <a:srgbClr val="F0F2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737360"/>
            <a:ext cx="1371600" cy="1371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Όριο ταχύτητας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χλμ/ώρα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20840" y="1600200"/>
            <a:ext cx="1920240" cy="2743200"/>
          </a:xfrm>
          <a:prstGeom prst="rect">
            <a:avLst/>
          </a:prstGeom>
          <a:solidFill>
            <a:srgbClr val="F0F2F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Text 10"/>
          <p:cNvSpPr/>
          <p:nvPr/>
        </p:nvSpPr>
        <p:spPr>
          <a:xfrm>
            <a:off x="681228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Δώσε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προτεραιότητα</a:t>
            </a:r>
            <a:endParaRPr lang="en-US" sz="1300" dirty="0"/>
          </a:p>
        </p:txBody>
      </p:sp>
      <p:sp>
        <p:nvSpPr>
          <p:cNvPr id="17" name="Ισοσκελές τρίγωνο 16">
            <a:extLst>
              <a:ext uri="{FF2B5EF4-FFF2-40B4-BE49-F238E27FC236}">
                <a16:creationId xmlns:a16="http://schemas.microsoft.com/office/drawing/2014/main" id="{3922D46A-DF07-4400-A2FD-9E00445A6C8A}"/>
              </a:ext>
            </a:extLst>
          </p:cNvPr>
          <p:cNvSpPr/>
          <p:nvPr/>
        </p:nvSpPr>
        <p:spPr>
          <a:xfrm rot="10800000">
            <a:off x="6995159" y="1737360"/>
            <a:ext cx="1371600" cy="1371600"/>
          </a:xfrm>
          <a:prstGeom prst="triangle">
            <a:avLst/>
          </a:prstGeom>
          <a:solidFill>
            <a:srgbClr val="D32F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  <p:sp>
        <p:nvSpPr>
          <p:cNvPr id="18" name="Ισοσκελές τρίγωνο 17">
            <a:extLst>
              <a:ext uri="{FF2B5EF4-FFF2-40B4-BE49-F238E27FC236}">
                <a16:creationId xmlns:a16="http://schemas.microsoft.com/office/drawing/2014/main" id="{5D244D96-45D1-4A73-ABDE-68803618D612}"/>
              </a:ext>
            </a:extLst>
          </p:cNvPr>
          <p:cNvSpPr/>
          <p:nvPr/>
        </p:nvSpPr>
        <p:spPr>
          <a:xfrm rot="10800000">
            <a:off x="7185659" y="1899285"/>
            <a:ext cx="990600" cy="1047750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l-G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🚦 Φωτεινοί Σηματοδότες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377440" cy="3657600"/>
          </a:xfrm>
          <a:prstGeom prst="rect">
            <a:avLst/>
          </a:prstGeom>
          <a:solidFill>
            <a:srgbClr val="2A1020"/>
          </a:solidFill>
          <a:ln w="25400">
            <a:solidFill>
              <a:srgbClr val="CC222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43000"/>
            <a:ext cx="16459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ΚΟΚΚΙΝΟ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ΣΤΑΜΑΤΑ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Απαγορεύεται η κίνηση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377440" cy="3657600"/>
          </a:xfrm>
          <a:prstGeom prst="rect">
            <a:avLst/>
          </a:prstGeom>
          <a:solidFill>
            <a:srgbClr val="251E00"/>
          </a:solidFill>
          <a:ln w="25400">
            <a:solidFill>
              <a:srgbClr val="F5B4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143000"/>
            <a:ext cx="164592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🟡 ΚΙΤΡΙΝΟ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29000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ΕΤΟΙΜΑΣΙΑ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Ετοιμάσου να σταματήσεις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1097280"/>
            <a:ext cx="2377440" cy="3657600"/>
          </a:xfrm>
          <a:prstGeom prst="rect">
            <a:avLst/>
          </a:prstGeom>
          <a:solidFill>
            <a:srgbClr val="001A0A"/>
          </a:solidFill>
          <a:ln w="25400">
            <a:solidFill>
              <a:srgbClr val="00BB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143000"/>
            <a:ext cx="1645920" cy="2560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EE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🟢 ΠΡΑΣΙΝΟ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172200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ΚΙΝΗΣΗ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Επιτρέπεται η κίνηση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🚸 Πώς Περνάμε Σωστά τη Διάβαση;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105156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Πλησίασε στο πεζοδρόμιο — ΜΗΝ σπεύδεις</a:t>
            </a:r>
            <a:endParaRPr lang="en-US" sz="15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Κοίτα και τις δύο κατευθύνσεις</a:t>
            </a:r>
            <a:endParaRPr lang="en-US" sz="15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Αν υπάρχει σηματοδότης, περίμενε το πράσινο</a:t>
            </a:r>
            <a:endParaRPr lang="en-US" sz="15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Βεβαιώσου ότι τα αυτοκίνητα σταμάτησαν</a:t>
            </a:r>
            <a:endParaRPr lang="en-US" sz="15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 Πέρασε γρήγορα, χωρίς να τρέχεις</a:t>
            </a:r>
            <a:endParaRPr lang="en-US" sz="15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 Διατήρησε οπτική επαφή με τους οδηγούς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Να θυμάσαι: ο οδηγός μπορεί να μη σε βλέπει — εσύ να τον βλέπεις πάντα!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🚴 Κανόνες για Ποδηλάτες &amp; Δίκυκλα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868680"/>
          </a:xfrm>
          <a:prstGeom prst="rect">
            <a:avLst/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527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Φόρα κράνος — είναι υποχρεωτικό και σώζει ζωές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4114800" cy="868680"/>
          </a:xfrm>
          <a:prstGeom prst="rect">
            <a:avLst/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2527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Χρησιμοποίησε ποδηλατόδρομο όπου υπάρχει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868680"/>
          </a:xfrm>
          <a:prstGeom prst="rect">
            <a:avLst/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0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Σηματοδότα τις στροφές με το χέρι σου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2240280"/>
            <a:ext cx="4114800" cy="868680"/>
          </a:xfrm>
          <a:prstGeom prst="rect">
            <a:avLst/>
          </a:prstGeom>
          <a:solidFill>
            <a:srgbClr val="F0FFF4"/>
          </a:solidFill>
          <a:ln w="19050">
            <a:solidFill>
              <a:srgbClr val="22A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350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Κάνε ελέγχους φρένων &amp; ελαστικών τακτικά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114800" cy="868680"/>
          </a:xfrm>
          <a:prstGeom prst="rect">
            <a:avLst/>
          </a:prstGeom>
          <a:solidFill>
            <a:srgbClr val="FFF0F0"/>
          </a:solidFill>
          <a:ln w="19050">
            <a:solidFill>
              <a:srgbClr val="CC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472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ΜΗΝ χρησιμοποιείς κινητό ενώ οδηγείς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54880" y="3337560"/>
            <a:ext cx="4114800" cy="868680"/>
          </a:xfrm>
          <a:prstGeom prst="rect">
            <a:avLst/>
          </a:prstGeom>
          <a:solidFill>
            <a:srgbClr val="FFF0F0"/>
          </a:solidFill>
          <a:ln w="19050">
            <a:solidFill>
              <a:srgbClr val="CC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4472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ΜΗΝ οδηγείς αντίθετα στη ροή κυκλοφορίας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🪖 Το κράνος μειώνει τον κίνδυνο θανατηφόρου κεφαλικού τραύματος κατά 70%!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B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Τεστ Γνώσεων!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243060"/>
          </a:solidFill>
          <a:ln w="12700">
            <a:solidFill>
              <a:srgbClr val="3D50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Τι σημαίνει το τριγωνικό κίτρινο σήμα;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280160"/>
            <a:ext cx="2834640" cy="56692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Προειδοποίηση κινδύνου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21408"/>
            <a:ext cx="8412480" cy="777240"/>
          </a:xfrm>
          <a:prstGeom prst="rect">
            <a:avLst/>
          </a:prstGeom>
          <a:solidFill>
            <a:srgbClr val="243060"/>
          </a:solidFill>
          <a:ln w="12700">
            <a:solidFill>
              <a:srgbClr val="3D50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Σε ποιο φως του σηματοδότη σταματάμε ΥΠΟΧΡΕΩΤΙΚΑ;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212848"/>
            <a:ext cx="2834640" cy="56692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Κόκκινο (και κίτρινο)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54096"/>
            <a:ext cx="8412480" cy="777240"/>
          </a:xfrm>
          <a:prstGeom prst="rect">
            <a:avLst/>
          </a:prstGeom>
          <a:solidFill>
            <a:srgbClr val="243060"/>
          </a:solidFill>
          <a:ln w="12700">
            <a:solidFill>
              <a:srgbClr val="3D50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Πόσες κατευθύνσεις κοιτάμε στη διάβαση;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3145536"/>
            <a:ext cx="2834640" cy="56692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191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Και τις δύο (αριστερά + δεξιά)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86784"/>
            <a:ext cx="8412480" cy="777240"/>
          </a:xfrm>
          <a:prstGeom prst="rect">
            <a:avLst/>
          </a:prstGeom>
          <a:solidFill>
            <a:srgbClr val="243060"/>
          </a:solidFill>
          <a:ln w="12700">
            <a:solidFill>
              <a:srgbClr val="3D50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41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Τι είναι υποχρεωτικό για ποδηλάτες;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4078224"/>
            <a:ext cx="2834640" cy="56692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4123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Κράνος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Θυμάσαι τα βασικά;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 Τήρησε πάντα τους κανόνες της τροχαίας</a:t>
            </a:r>
            <a:endParaRPr lang="en-US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  Χρησιμοποίησε πεζοδρόμια &amp; διαβάσεις</a:t>
            </a:r>
            <a:endParaRPr lang="en-US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📵  Ποτέ κινητό ενώ περπατάς στο δρόμο</a:t>
            </a:r>
            <a:endParaRPr lang="en-US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🪖  Πάντα κράνος στο ποδήλατο</a:t>
            </a:r>
            <a:endParaRPr lang="en-US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 Παρατήρησε — αντιδρά σωστά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Η ασφάλειά σου είναι δική σου ευθύνη!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8E9D5E-9361-471E-9C1D-C6EF2FD29F14}">
  <we:reference id="wa200010001" version="1.0.0.1" store="el-GR" storeType="OMEX"/>
  <we:alternateReferences>
    <we:reference id="wa200010001" version="1.0.0.1" store="wa200010001" storeType="OMEX"/>
  </we:alternateReferences>
  <we:properties>
    <we:property name="claude.fileId" value="&quot;dcbe4ad6-4752-485f-a794-26ab3981e0c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417</Words>
  <Application>Microsoft Office PowerPoint</Application>
  <PresentationFormat>Προβολή στην οθόνη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Οδική Ασφάλεια</dc:title>
  <dc:subject>PptxGenJS Presentation</dc:subject>
  <dc:creator>PptxGenJS</dc:creator>
  <cp:lastModifiedBy>Alex Passalidis</cp:lastModifiedBy>
  <cp:revision>2</cp:revision>
  <dcterms:created xsi:type="dcterms:W3CDTF">2026-05-07T18:35:53Z</dcterms:created>
  <dcterms:modified xsi:type="dcterms:W3CDTF">2026-05-07T18:44:32Z</dcterms:modified>
</cp:coreProperties>
</file>